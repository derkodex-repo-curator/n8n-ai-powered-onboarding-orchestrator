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Nunito"/>
      <p:regular r:id="rId28"/>
      <p:bold r:id="rId29"/>
      <p:italic r:id="rId30"/>
      <p:boldItalic r:id="rId31"/>
    </p:embeddedFont>
    <p:embeddedFont>
      <p:font typeface="Manrope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6.xml"/><Relationship Id="rId33" Type="http://schemas.openxmlformats.org/officeDocument/2006/relationships/font" Target="fonts/Manrope-bold.fntdata"/><Relationship Id="rId10" Type="http://schemas.openxmlformats.org/officeDocument/2006/relationships/slide" Target="slides/slide5.xml"/><Relationship Id="rId32" Type="http://schemas.openxmlformats.org/officeDocument/2006/relationships/font" Target="fonts/Manrop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b2ece10d4_1_5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b2ece10d4_1_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b2ece10d4_1_1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b2ece10d4_1_2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b2ece10d4_1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b2ece10d4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b2ece10d4_1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b2ece10d4_1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b2ece10d4_1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b2ece10d4_1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b2ece10d4_1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b2ece10d4_1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b2ece10d4_1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b2ece10d4_1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b2ece10d4_1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b2ece10d4_1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b2ece10d4_1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b2ece10d4_1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b2ece10d4_1_3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b2ece10d4_1_5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b2ece10d4_1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b2ece10d4_1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b2ece10d4_1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b2ece10d4_1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b2ece10d4_1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b2ece10d4_1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b2ece10d4_1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b2ece10d4_1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b2ece10d4_1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b2ece10d4_1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b2ece10d4_1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b2ece10d4_1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b2ece10d4_1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b2ece10d4_1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b2ece10d4_1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b2ece10d4_1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c240bfc4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8c240bfc4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E">
  <p:cSld name="TITLE_AND_BODY_2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"/>
          <p:cNvSpPr/>
          <p:nvPr>
            <p:ph idx="2" type="pic"/>
          </p:nvPr>
        </p:nvSpPr>
        <p:spPr>
          <a:xfrm>
            <a:off x="204047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B">
  <p:cSld name="TITLE_AND_BODY_2_1_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>
            <a:off x="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5427950" y="289525"/>
            <a:ext cx="34059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5427950" y="1565672"/>
            <a:ext cx="34059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A">
  <p:cSld name="CUSTOM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>
            <p:ph idx="2" type="pic"/>
          </p:nvPr>
        </p:nvSpPr>
        <p:spPr>
          <a:xfrm>
            <a:off x="3035838" y="1471024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256050" y="253350"/>
            <a:ext cx="8631900" cy="8505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/>
        </p:nvSpPr>
        <p:spPr>
          <a:xfrm>
            <a:off x="256062" y="120584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" name="Google Shape;33;p7"/>
          <p:cNvSpPr txBox="1"/>
          <p:nvPr/>
        </p:nvSpPr>
        <p:spPr>
          <a:xfrm>
            <a:off x="256062" y="330896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" name="Google Shape;34;p7"/>
          <p:cNvSpPr txBox="1"/>
          <p:nvPr/>
        </p:nvSpPr>
        <p:spPr>
          <a:xfrm>
            <a:off x="6382542" y="120512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1088166" y="1250719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3" type="body"/>
          </p:nvPr>
        </p:nvSpPr>
        <p:spPr>
          <a:xfrm>
            <a:off x="7223790" y="1249991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4" type="body"/>
          </p:nvPr>
        </p:nvSpPr>
        <p:spPr>
          <a:xfrm>
            <a:off x="7223790" y="3353111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8" name="Google Shape;38;p7"/>
          <p:cNvCxnSpPr/>
          <p:nvPr/>
        </p:nvCxnSpPr>
        <p:spPr>
          <a:xfrm>
            <a:off x="628506" y="140695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" name="Google Shape;39;p7"/>
          <p:cNvCxnSpPr/>
          <p:nvPr/>
        </p:nvCxnSpPr>
        <p:spPr>
          <a:xfrm>
            <a:off x="628506" y="3509382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" name="Google Shape;40;p7"/>
          <p:cNvCxnSpPr/>
          <p:nvPr/>
        </p:nvCxnSpPr>
        <p:spPr>
          <a:xfrm>
            <a:off x="6760631" y="1406288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7"/>
          <p:cNvCxnSpPr/>
          <p:nvPr/>
        </p:nvCxnSpPr>
        <p:spPr>
          <a:xfrm>
            <a:off x="6760631" y="350940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7"/>
          <p:cNvSpPr txBox="1"/>
          <p:nvPr/>
        </p:nvSpPr>
        <p:spPr>
          <a:xfrm>
            <a:off x="6382546" y="330823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" name="Google Shape;43;p7"/>
          <p:cNvSpPr txBox="1"/>
          <p:nvPr>
            <p:ph idx="5" type="body"/>
          </p:nvPr>
        </p:nvSpPr>
        <p:spPr>
          <a:xfrm>
            <a:off x="1088166" y="3353839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F">
  <p:cSld name="TITLE_AND_BODY_2_1_1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50350" y="226400"/>
            <a:ext cx="35055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50350" y="1598500"/>
            <a:ext cx="35055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8"/>
          <p:cNvSpPr/>
          <p:nvPr>
            <p:ph idx="2" type="pic"/>
          </p:nvPr>
        </p:nvSpPr>
        <p:spPr>
          <a:xfrm>
            <a:off x="4101622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jpg"/><Relationship Id="rId4" Type="http://schemas.openxmlformats.org/officeDocument/2006/relationships/slide" Target="/ppt/slides/slide2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23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jpg"/><Relationship Id="rId4" Type="http://schemas.openxmlformats.org/officeDocument/2006/relationships/image" Target="../media/image42.jpg"/><Relationship Id="rId5" Type="http://schemas.openxmlformats.org/officeDocument/2006/relationships/hyperlink" Target="https://miro.com/welcomeonboard/dnFINGtQTUNTdGJ4N0RmNjNZL1pBTU9FOGN4SStEb01iMEZseXA5aW5KZlVoSVE0NGdkbjRZMnhsL05TV0JKdStCL2JpUm5RN0srMmtYRTRRcUhhQVBrRmVXdnlkYUEzT2ZJVmkwbitiSXgyRk5aRmtsZ3JwMnRvQmpQQ2p3MThBS2NFMDFkcUNFSnM0d3FEN050ekl3PT0hdjE=?share_link_id=670424497284" TargetMode="External"/><Relationship Id="rId6" Type="http://schemas.openxmlformats.org/officeDocument/2006/relationships/slide" Target="/ppt/slides/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5004650" y="226400"/>
            <a:ext cx="41394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N8n Workflow - AI Onboarding Orchestrator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26600" y="1067150"/>
            <a:ext cx="3895500" cy="919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Joseph Boring - AI Automation Specialist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	Sprint 7 - Capstone Project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47" y="226350"/>
            <a:ext cx="4690800" cy="4690800"/>
          </a:xfrm>
          <a:prstGeom prst="rect">
            <a:avLst/>
          </a:prstGeom>
          <a:noFill/>
        </p:spPr>
      </p:pic>
      <p:sp>
        <p:nvSpPr>
          <p:cNvPr id="54" name="Google Shape;54;p9"/>
          <p:cNvSpPr txBox="1"/>
          <p:nvPr/>
        </p:nvSpPr>
        <p:spPr>
          <a:xfrm>
            <a:off x="5813400" y="1878775"/>
            <a:ext cx="33306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Transforming a 3-Hour Manual Process into a 5-Minute Intelligent Workflow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5120400" y="16425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The Problem: Manual Onboarding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4940125" y="1851000"/>
            <a:ext cx="4161900" cy="32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Consuming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HR and hiring managers spend an estimated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2-3 hours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 new hire on repetitive administrative tasks.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Error-Prone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Manual data entry across multiple systems (email, spreadsheets, task managers) leads to typos, missed steps, and inconsistent information.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Inconsistent Experience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New hires receive a disjointed, impersonal welcome, leading to confusion and a poor first impression.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Delayed Action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Critical tasks like IT account setup are delayed by slow, email-based communication, impacting Day 1 readiness.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24" y="316350"/>
            <a:ext cx="4510800" cy="4510800"/>
          </a:xfrm>
          <a:prstGeom prst="roundRect">
            <a:avLst>
              <a:gd fmla="val 50000" name="adj"/>
            </a:avLst>
          </a:prstGeom>
          <a:noFill/>
        </p:spPr>
      </p:pic>
      <p:sp>
        <p:nvSpPr>
          <p:cNvPr id="61" name="Google Shape;61;p10"/>
          <p:cNvSpPr txBox="1"/>
          <p:nvPr/>
        </p:nvSpPr>
        <p:spPr>
          <a:xfrm>
            <a:off x="5120400" y="1111475"/>
            <a:ext cx="39273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Onboarding is a critical first impression, but the manual process is broken.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2" name="Google Shape;62;p10"/>
          <p:cNvSpPr txBox="1"/>
          <p:nvPr/>
        </p:nvSpPr>
        <p:spPr>
          <a:xfrm>
            <a:off x="5660525" y="4803025"/>
            <a:ext cx="32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ighlight>
                  <a:srgbClr val="FFF2CC"/>
                </a:highlight>
                <a:hlinkClick action="ppaction://hlinksldjump" r:id="rId4"/>
              </a:rPr>
              <a:t>ADJUSTED Miro Prototype</a:t>
            </a:r>
            <a:r>
              <a:rPr lang="en">
                <a:solidFill>
                  <a:srgbClr val="FF0000"/>
                </a:solidFill>
                <a:highlight>
                  <a:srgbClr val="FFF2CC"/>
                </a:highlight>
              </a:rPr>
              <a:t> ← Click</a:t>
            </a:r>
            <a:endParaRPr>
              <a:solidFill>
                <a:srgbClr val="FF0000"/>
              </a:solidFill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5427950" y="289525"/>
            <a:ext cx="34059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The Solution: Automation Agent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5427950" y="1565672"/>
            <a:ext cx="34059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 built an end-to-end automation in n8n to orchestrate the entire onboarding experience.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This solution uses a single form submission to trigger a cascade of intelligent actions, from AI-powered communication to synchronized record-keeping, all without manual intervention.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>
            <p:ph type="title"/>
          </p:nvPr>
        </p:nvSpPr>
        <p:spPr>
          <a:xfrm>
            <a:off x="507450" y="12575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Technical Stack &amp; Workflow Overview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283475" y="811975"/>
            <a:ext cx="4921800" cy="23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 Stack: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Automation Platform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n8n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Engine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Google Gemini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Connected Services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Google Sheets, Gmail, Slack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Prototyping: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Miro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163" y="1349394"/>
            <a:ext cx="370725" cy="355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0600" y="1119100"/>
            <a:ext cx="911761" cy="3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6274" y="1527050"/>
            <a:ext cx="304750" cy="406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5173" y="1584193"/>
            <a:ext cx="370732" cy="29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0050" y="1554888"/>
            <a:ext cx="370725" cy="350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0425" y="1867963"/>
            <a:ext cx="229059" cy="22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2277799"/>
            <a:ext cx="9143999" cy="2869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75500" y="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Under The Hood - 1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5941" y="-12100"/>
            <a:ext cx="252805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6675" y="1702400"/>
            <a:ext cx="181927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84500" y="1954825"/>
            <a:ext cx="407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Single Point of Entry</a:t>
            </a:r>
            <a:r>
              <a:rPr lang="en" sz="1600"/>
              <a:t>: A simple web form kicks off the entire process.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475500" y="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Under The Hood - 2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6200"/>
            <a:ext cx="2362200" cy="32480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14"/>
          <p:cNvSpPr txBox="1"/>
          <p:nvPr/>
        </p:nvSpPr>
        <p:spPr>
          <a:xfrm>
            <a:off x="2849938" y="796200"/>
            <a:ext cx="3221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AI-Powered Personalization</a:t>
            </a:r>
            <a:r>
              <a:rPr lang="en" sz="1300"/>
              <a:t>: An AI agent analyzes the new hire's role to generate a custom, relevant welcome.</a:t>
            </a:r>
            <a:endParaRPr sz="1600"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8025" y="1821175"/>
            <a:ext cx="3965530" cy="325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76200">
              <a:srgbClr val="000000">
                <a:alpha val="50000"/>
              </a:srgbClr>
            </a:outerShdw>
          </a:effectLst>
        </p:spPr>
      </p:pic>
      <p:pic>
        <p:nvPicPr>
          <p:cNvPr id="97" name="Google Shape;9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9225" y="0"/>
            <a:ext cx="2834775" cy="1931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4"/>
          <p:cNvSpPr txBox="1"/>
          <p:nvPr/>
        </p:nvSpPr>
        <p:spPr>
          <a:xfrm>
            <a:off x="6665975" y="2078175"/>
            <a:ext cx="24780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From Generic to Personalized</a:t>
            </a:r>
            <a:r>
              <a:rPr lang="en" sz="1100"/>
              <a:t>: The agent moves beyond a static template. It retrieves role-specific resources and crafts a unique welcome message for every new hire.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Reduces Cognitive Load</a:t>
            </a:r>
            <a:r>
              <a:rPr lang="en" sz="1100"/>
              <a:t>: The AI handles the "thinking" part of the process—analyzing the role, finding the right document, and composing the message—freeing up HR to focus on people, not paperwork.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Ensures Consistency</a:t>
            </a:r>
            <a:r>
              <a:rPr lang="en" sz="1100"/>
              <a:t>: The AI guarantees that every welcome email is high-quality, on-brand, and contains all necessary information, every single time.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475500" y="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Under The Hood - 3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654302"/>
            <a:ext cx="3838618" cy="44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4200" y="654300"/>
            <a:ext cx="7549800" cy="137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4850" y="2730138"/>
            <a:ext cx="3862175" cy="196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475500" y="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Under The Hood - 3.5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576" y="589352"/>
            <a:ext cx="3838618" cy="44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96063"/>
            <a:ext cx="5411924" cy="283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378825" y="1249475"/>
            <a:ext cx="357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Output: </a:t>
            </a:r>
            <a:r>
              <a:rPr lang="en" sz="1100"/>
              <a:t>The final welcome email sent to the new hire.</a:t>
            </a:r>
            <a:endParaRPr sz="1100"/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5900" y="2420175"/>
            <a:ext cx="2444400" cy="27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475500" y="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Under The Hood - 4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6200"/>
            <a:ext cx="2180014" cy="434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0025" y="796196"/>
            <a:ext cx="6811575" cy="2170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 rotWithShape="1">
          <a:blip r:embed="rId5">
            <a:alphaModFix/>
          </a:blip>
          <a:srcRect b="0" l="0" r="0" t="44885"/>
          <a:stretch/>
        </p:blipFill>
        <p:spPr>
          <a:xfrm>
            <a:off x="2180025" y="3304500"/>
            <a:ext cx="6131501" cy="18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2478025" y="2966325"/>
            <a:ext cx="6461400" cy="354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Synchronized Operations</a:t>
            </a:r>
            <a:r>
              <a:rPr lang="en" sz="1100"/>
              <a:t>: All records and communications are updated instantly and accurately.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475500" y="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Under The Hood - 5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8600"/>
            <a:ext cx="2162700" cy="23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6425" y="926575"/>
            <a:ext cx="6524100" cy="239688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2716800" y="3512375"/>
            <a:ext cx="550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automated welcome message posted in the Slack channel.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475500" y="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Under The Hood - 6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5525"/>
            <a:ext cx="8871075" cy="2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00" y="1792425"/>
            <a:ext cx="6219825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8825" y="965075"/>
            <a:ext cx="4348499" cy="17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146100" y="1087038"/>
            <a:ext cx="442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Robust Error Handling</a:t>
            </a:r>
            <a:r>
              <a:rPr lang="en" sz="1100"/>
              <a:t>: A dedicated error workflow provides real-time Slack alerts for any failures, ensuring system reliability.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The Results - Tangible Business Value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4096175" y="134875"/>
            <a:ext cx="5139600" cy="19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95%+ Reduction in Manual Work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Transformed a 3-hour process into a 5-minute task.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 Consistency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Eliminates human error in data entry and communication.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Instantaneous Execution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All steps are completed in seconds, not hours, ensuring Day 1 readiness.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74666"/>
            <a:ext cx="9143999" cy="3060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46200" y="283475"/>
            <a:ext cx="54570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Arial"/>
                <a:ea typeface="Arial"/>
                <a:cs typeface="Arial"/>
                <a:sym typeface="Arial"/>
              </a:rPr>
              <a:t>Future Automation: Next Steps</a:t>
            </a:r>
            <a:endParaRPr b="1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3125" y="816000"/>
            <a:ext cx="3511500" cy="3511500"/>
          </a:xfrm>
          <a:prstGeom prst="rect">
            <a:avLst/>
          </a:prstGeom>
          <a:noFill/>
        </p:spPr>
      </p:pic>
      <p:sp>
        <p:nvSpPr>
          <p:cNvPr id="153" name="Google Shape;153;p21"/>
          <p:cNvSpPr txBox="1"/>
          <p:nvPr/>
        </p:nvSpPr>
        <p:spPr>
          <a:xfrm>
            <a:off x="213600" y="679850"/>
            <a:ext cx="48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this automation matters and where it can go next.</a:t>
            </a:r>
            <a:endParaRPr b="1"/>
          </a:p>
        </p:txBody>
      </p:sp>
      <p:sp>
        <p:nvSpPr>
          <p:cNvPr id="154" name="Google Shape;154;p21"/>
          <p:cNvSpPr txBox="1"/>
          <p:nvPr/>
        </p:nvSpPr>
        <p:spPr>
          <a:xfrm>
            <a:off x="46200" y="1190900"/>
            <a:ext cx="528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Why It Matters</a:t>
            </a:r>
            <a:r>
              <a:rPr lang="en" sz="1100"/>
              <a:t>: This project proves that automation isn't about replacing people; it's about </a:t>
            </a:r>
            <a:r>
              <a:rPr b="1" lang="en" sz="1100"/>
              <a:t>empowering them</a:t>
            </a:r>
            <a:r>
              <a:rPr lang="en" sz="1100"/>
              <a:t>. By eliminating tedious administrative tasks, we give HR and hiring managers back their most valuable resource—time—to focus on the human side of onboarding: mentorship, training, and building connections.</a:t>
            </a:r>
            <a:endParaRPr/>
          </a:p>
        </p:txBody>
      </p:sp>
      <p:sp>
        <p:nvSpPr>
          <p:cNvPr id="155" name="Google Shape;155;p21"/>
          <p:cNvSpPr txBox="1"/>
          <p:nvPr/>
        </p:nvSpPr>
        <p:spPr>
          <a:xfrm>
            <a:off x="46200" y="2047075"/>
            <a:ext cx="528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How AI Improved It</a:t>
            </a:r>
            <a:r>
              <a:rPr lang="en" sz="1100"/>
              <a:t>: The AI agent was the critical component that elevated this from a simple data-entry bot to a truly intelligent system. It introduced personalization and decision-making that a standard, non-AI workflow could never achieve.</a:t>
            </a:r>
            <a:endParaRPr sz="1100"/>
          </a:p>
        </p:txBody>
      </p:sp>
      <p:sp>
        <p:nvSpPr>
          <p:cNvPr id="156" name="Google Shape;156;p21"/>
          <p:cNvSpPr txBox="1"/>
          <p:nvPr/>
        </p:nvSpPr>
        <p:spPr>
          <a:xfrm>
            <a:off x="46200" y="2908975"/>
            <a:ext cx="5373300" cy="18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Possible Next Steps</a:t>
            </a:r>
            <a:r>
              <a:rPr lang="en" sz="1100"/>
              <a:t>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Direct HRIS Integration</a:t>
            </a:r>
            <a:r>
              <a:rPr lang="en" sz="1100"/>
              <a:t>: Connect directly to systems like Workday or BambooHR to trigger the workflow automatically when a candidate's status changes to "Hired."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Dynamic Checklist Generation</a:t>
            </a:r>
            <a:r>
              <a:rPr lang="en" sz="1100"/>
              <a:t>: Use the AI agent to dynamically generate the tasks for the onboarding checklist based on the new hire's specific role and seniority.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Automated Calendar Invites</a:t>
            </a:r>
            <a:r>
              <a:rPr lang="en" sz="1100"/>
              <a:t>: Add a step to automatically schedule a "Welcome Meeting" on the manager's and new hire's calendars.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/>
        </p:nvSpPr>
        <p:spPr>
          <a:xfrm>
            <a:off x="3652950" y="2229450"/>
            <a:ext cx="18381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The End!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3733025" y="3156200"/>
            <a:ext cx="1758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**Inputs/Outputs following this slide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/>
        </p:nvSpPr>
        <p:spPr>
          <a:xfrm>
            <a:off x="139500" y="120050"/>
            <a:ext cx="14613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Inputs/Outputs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7775"/>
            <a:ext cx="2969475" cy="266469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/>
          <p:nvPr/>
        </p:nvSpPr>
        <p:spPr>
          <a:xfrm>
            <a:off x="704297" y="580250"/>
            <a:ext cx="1560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Form Submission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0" name="Google Shape;1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6975" y="69725"/>
            <a:ext cx="2969471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6665963" y="1426475"/>
            <a:ext cx="2007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Agent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0861" y="2478800"/>
            <a:ext cx="3563138" cy="26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/>
        </p:nvSpPr>
        <p:spPr>
          <a:xfrm>
            <a:off x="139500" y="120050"/>
            <a:ext cx="14613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Inputs/Outputs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3798600" y="645200"/>
            <a:ext cx="15468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RAG Agent Tool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9" name="Google Shape;1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93439"/>
            <a:ext cx="9143999" cy="2223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/>
        </p:nvSpPr>
        <p:spPr>
          <a:xfrm>
            <a:off x="139500" y="120050"/>
            <a:ext cx="14613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Inputs/Outputs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2522723" y="417900"/>
            <a:ext cx="4851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QC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22250"/>
            <a:ext cx="2648247" cy="379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3897" y="962025"/>
            <a:ext cx="455295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/>
        </p:nvSpPr>
        <p:spPr>
          <a:xfrm>
            <a:off x="139500" y="120050"/>
            <a:ext cx="14613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Inputs/Outputs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4415550" y="337400"/>
            <a:ext cx="7242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Email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088" y="797600"/>
            <a:ext cx="7941835" cy="434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/>
        </p:nvSpPr>
        <p:spPr>
          <a:xfrm>
            <a:off x="139500" y="120050"/>
            <a:ext cx="14613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Inputs/Outputs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4415550" y="337400"/>
            <a:ext cx="14613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Append Roster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7750"/>
            <a:ext cx="9143999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/>
        </p:nvSpPr>
        <p:spPr>
          <a:xfrm>
            <a:off x="139500" y="120050"/>
            <a:ext cx="14613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Inputs/Outputs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4415550" y="337400"/>
            <a:ext cx="17421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Append Checklist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8" name="Google Shape;20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0000"/>
            <a:ext cx="9144001" cy="291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/>
        </p:nvSpPr>
        <p:spPr>
          <a:xfrm>
            <a:off x="139500" y="120050"/>
            <a:ext cx="14613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Inputs/Outputs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4415550" y="337400"/>
            <a:ext cx="17421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Slack Message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5" name="Google Shape;215;p29"/>
          <p:cNvPicPr preferRelativeResize="0"/>
          <p:nvPr/>
        </p:nvPicPr>
        <p:blipFill rotWithShape="1">
          <a:blip r:embed="rId3">
            <a:alphaModFix/>
          </a:blip>
          <a:srcRect b="0" l="0" r="31398" t="0"/>
          <a:stretch/>
        </p:blipFill>
        <p:spPr>
          <a:xfrm>
            <a:off x="0" y="842050"/>
            <a:ext cx="4165976" cy="430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5975" y="615675"/>
            <a:ext cx="2681550" cy="3912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7525" y="615675"/>
            <a:ext cx="2296475" cy="2743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0" title="Sprint 7 Automated Onboarding.jpg"/>
          <p:cNvPicPr preferRelativeResize="0"/>
          <p:nvPr/>
        </p:nvPicPr>
        <p:blipFill rotWithShape="1">
          <a:blip r:embed="rId3">
            <a:alphaModFix/>
          </a:blip>
          <a:srcRect b="5019" l="15126" r="5633" t="3220"/>
          <a:stretch/>
        </p:blipFill>
        <p:spPr>
          <a:xfrm>
            <a:off x="0" y="0"/>
            <a:ext cx="2519924" cy="508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0" title="Sprint 7 Automated Onboarding (1).jpg"/>
          <p:cNvPicPr preferRelativeResize="0"/>
          <p:nvPr/>
        </p:nvPicPr>
        <p:blipFill rotWithShape="1">
          <a:blip r:embed="rId4">
            <a:alphaModFix/>
          </a:blip>
          <a:srcRect b="8595" l="4445" r="3329" t="1862"/>
          <a:stretch/>
        </p:blipFill>
        <p:spPr>
          <a:xfrm>
            <a:off x="6754857" y="-2275"/>
            <a:ext cx="238914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0"/>
          <p:cNvSpPr txBox="1"/>
          <p:nvPr/>
        </p:nvSpPr>
        <p:spPr>
          <a:xfrm>
            <a:off x="3739375" y="889725"/>
            <a:ext cx="2547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5"/>
              </a:rPr>
              <a:t>Miro Board Link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action="ppaction://hlinksldjump" r:id="rId6"/>
              </a:rPr>
              <a:t>Back to Presentation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